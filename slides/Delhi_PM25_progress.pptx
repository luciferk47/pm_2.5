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Delhi has some of the worst winter air in the world. We forecast PM2.5 for the next 12 months so health advisories can be planned. Data: CPCB daily Delhi records (2,009 days, Jan 2015 to Jul 2020) merged with ERA5 weather (wind, humidity, temperature, rain). The chart shows the story: a sharp winter peak every year and clean monsoon months. About half of all days are Poor, Very Poor or Severe. Done so far: cleaning, EDA, VAR and Granger. Next: SARIMAX, baselines,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November median is about 4.9x the August median; winter averages 213 vs 48 ug/m3 in the monsoon (4.4x). STL seasonal strength is 0.89, so we use a seasonal model with period 52 weeks. ADF and KPSS both pass for log PM2.5 levels; the seasonal difference alone is borderline, so SARIMAX will compare D=0 vs D=1 using held-out error. Before the VAR we remove the seasonal cycle, otherwise Granger would detect the season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deseasonalised wind, humidity and log PM2.5, then fitted a VAR. AIC chose 4 lags; the model is stable and residuals pass a Portmanteau test. Wind and humidity each Granger-cause PM2.5 (p about 1e-29 and 1e-11). Reverse directions are not significant, which makes physical sense. Same result with BIC lag and first differences. A 1 SD wind increase cuts PM2.5 by about 12% next day; humidity by about 7%. Weather explains about 30% of 14-day forecast error (ordering-dependent). Caveat: Granger is predictive, not proof of physical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clean data, clear seasonal structure, and evidence that wind and humidity lead PM2.5, so they go in as exogenous regressors. Next: (1) SARIMAX on weekly log PM2.5, period 52, AIC/BIC orders, Ljung-Box residual checks; (2) Linear Regression and LSTM vs seasonal naive on 2019 test MAE; (3) 12-month forecast with 95% intervals and a monthly AQI advisory table. 2020 is a lockdown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8A5D"/>
                </a:solidFill>
                <a:latin typeface="Calibri"/>
              </a:defRPr>
            </a:pPr>
            <a:r>
              <a:t>TIME SERIES ANALYSIS · PROGRESS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6F5F0"/>
                </a:solidFill>
                <a:latin typeface="Calibri"/>
              </a:defRPr>
            </a:pPr>
            <a:r>
              <a:t>Forecasting Delhi PM2.5 with SARIMAX, VAR and Granger causality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C9D1DC"/>
                </a:solidFill>
                <a:latin typeface="Calibri"/>
              </a:defRPr>
            </a:pPr>
            <a:r>
              <a:t>Goal: a 12-month AQI forecast with 95% intervals for health advisories, and evidence on whether wind and humidity drive PM2.5.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05156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6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pm25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4937760" cy="19552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45720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8A5D"/>
                </a:solidFill>
                <a:latin typeface="Calibri"/>
              </a:defRPr>
            </a:pPr>
            <a:r>
              <a:t>2,009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9D1DC"/>
                </a:solidFill>
                <a:latin typeface="Calibri"/>
              </a:defRPr>
            </a:pPr>
            <a:r>
              <a:t>daily records, Jan 2015 to Jul 2020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663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8A5D"/>
                </a:solidFill>
                <a:latin typeface="Calibri"/>
              </a:defRPr>
            </a:pPr>
            <a:r>
              <a:t>5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2578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9D1DC"/>
                </a:solidFill>
                <a:latin typeface="Calibri"/>
              </a:defRPr>
            </a:pPr>
            <a:r>
              <a:t>PM2.5, NO₂, SO₂ (CPCB); wind, humidity (ERA5)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57200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4663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8A5D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52578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9D1DC"/>
                </a:solidFill>
                <a:latin typeface="Calibri"/>
              </a:defRPr>
            </a:pPr>
            <a:r>
              <a:t>of days rated Poor, Very Poor or Severe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F9BAD"/>
                </a:solidFill>
                <a:latin typeface="Calibri"/>
              </a:defRPr>
            </a:pPr>
            <a:r>
              <a:t>Data: CPCB via Kaggle, Open-Meteo ERA5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55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F9BAD"/>
                </a:solidFill>
                <a:latin typeface="Calibri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13D"/>
                </a:solidFill>
                <a:latin typeface="Calibri"/>
              </a:defRPr>
            </a:pPr>
            <a:r>
              <a:t>Seasonality dominates, and the series is stationary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6400800" cy="3063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>
            <a:solidFill>
              <a:srgbClr val="DA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monthly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6217920" cy="2901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75488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B4659"/>
                </a:solidFill>
                <a:latin typeface="Calibri"/>
              </a:defRPr>
            </a:pPr>
            <a:r>
              <a:t>Winter smog (Nov–Jan) and monsoon clearing (Jul–Sep) repeat every year, so a seasonal ARIMA with period 52 weeks is justified.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6304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A78D6"/>
                </a:solidFill>
                <a:latin typeface="Calibri"/>
              </a:defRPr>
            </a:pPr>
            <a:r>
              <a:t>4.4×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48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B4659"/>
                </a:solidFill>
                <a:latin typeface="Calibri"/>
              </a:defRPr>
            </a:pPr>
            <a:r>
              <a:t>Winter mean 213 vs monsoon 48 µg/m³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01752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A78D6"/>
                </a:solidFill>
                <a:latin typeface="Calibri"/>
              </a:defRPr>
            </a:pPr>
            <a:r>
              <a:t>0.89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0332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B4659"/>
                </a:solidFill>
                <a:latin typeface="Calibri"/>
              </a:defRPr>
            </a:pPr>
            <a:r>
              <a:t>STL seasonal strength; 1 means pure seasonality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A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66344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A78D6"/>
                </a:solidFill>
                <a:latin typeface="Calibri"/>
              </a:defRPr>
            </a:pPr>
            <a:r>
              <a:t>Stationary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25780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B4659"/>
                </a:solidFill>
                <a:latin typeface="Calibri"/>
              </a:defRPr>
            </a:pPr>
            <a:r>
              <a:t>Log PM2.5 passes ADF and KPSS; D = 0 vs 1 is decided in SARIMAX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Notebook 02 · daily PM2.5, 2015–2020 · Spearman, STL, ADF/KPSS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13D"/>
                </a:solidFill>
                <a:latin typeface="Calibri"/>
              </a:defRPr>
            </a:pPr>
            <a:r>
              <a:t>VAR and Granger: weather leads PM2.5, not the reverse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55448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Wind → PM2.5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1.7e-29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Causes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Humidity → PM2.5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1.1e-11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Causes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PM2.5 → 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No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PM2.5 → Humidity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4213D"/>
                          </a:solidFill>
                          <a:latin typeface="Calibri"/>
                        </a:defRPr>
                      </a:pPr>
                      <a:r>
                        <a:t>No evidence</a:t>
                      </a:r>
                    </a:p>
                  </a:txBody>
                  <a:tcPr>
                    <a:solidFill>
                      <a:srgbClr val="ECEBE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977639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B4659"/>
                </a:solidFill>
                <a:latin typeface="Calibri"/>
              </a:defRPr>
            </a:pPr>
            <a:r>
              <a:t>VAR(4) on deseasonalised daily data, 2015–2019. Stable (max |λ| = 0.81) with white residuals (Portmanteau p = 0.17). Same result with the BIC lag and with first differences.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>
            <a:solidFill>
              <a:srgbClr val="DA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irf_weather_to_pm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166360" cy="21737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4023360"/>
            <a:ext cx="5349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4213D"/>
                </a:solidFill>
                <a:latin typeface="Calibri"/>
              </a:defRPr>
            </a:pPr>
            <a:r>
              <a:t>• +1 SD wind (2.5 km/h): PM2.5 down ≈12% next day</a:t>
            </a:r>
          </a:p>
          <a:p>
            <a:pPr>
              <a:spcAft>
                <a:spcPts val="800"/>
              </a:spcAft>
              <a:defRPr sz="1700" b="0">
                <a:solidFill>
                  <a:srgbClr val="14213D"/>
                </a:solidFill>
                <a:latin typeface="Calibri"/>
              </a:defRPr>
            </a:pPr>
            <a:r>
              <a:t>• +1 SD humidity (5.4% RH): PM2.5 down ≈7%</a:t>
            </a:r>
          </a:p>
          <a:p>
            <a:pPr>
              <a:spcAft>
                <a:spcPts val="800"/>
              </a:spcAft>
              <a:defRPr sz="1700" b="0">
                <a:solidFill>
                  <a:srgbClr val="14213D"/>
                </a:solidFill>
                <a:latin typeface="Calibri"/>
              </a:defRPr>
            </a:pPr>
            <a:r>
              <a:t>• Weather explains ≈30% of 14-day forecast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Notebook 03 · F-tests from the fitted VAR · Granger = predictive causality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55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6F5F0"/>
                </a:solidFill>
                <a:latin typeface="Calibri"/>
              </a:defRPr>
            </a:pPr>
            <a:r>
              <a:t>What is done, and the road to the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8A5D"/>
                </a:solidFill>
                <a:latin typeface="Calibri"/>
              </a:defRPr>
            </a:pPr>
            <a:r>
              <a:t>Done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6F5F0"/>
                </a:solidFill>
                <a:latin typeface="Calibri"/>
              </a:defRPr>
            </a:pPr>
            <a:r>
              <a:t>• Cleaned and merged 2,009 days of CPCB and ERA5 data; 2 missing PM2.5 days interpolated</a:t>
            </a:r>
          </a:p>
          <a:p>
            <a:pPr>
              <a:spcAft>
                <a:spcPts val="800"/>
              </a:spcAft>
              <a:defRPr sz="1600" b="0">
                <a:solidFill>
                  <a:srgbClr val="F6F5F0"/>
                </a:solidFill>
                <a:latin typeface="Calibri"/>
              </a:defRPr>
            </a:pPr>
            <a:r>
              <a:t>• Showed a strong annual cycle and a stationary log PM2.5 series</a:t>
            </a:r>
          </a:p>
          <a:p>
            <a:pPr>
              <a:spcAft>
                <a:spcPts val="800"/>
              </a:spcAft>
              <a:defRPr sz="1600" b="0">
                <a:solidFill>
                  <a:srgbClr val="F6F5F0"/>
                </a:solidFill>
                <a:latin typeface="Calibri"/>
              </a:defRPr>
            </a:pPr>
            <a:r>
              <a:t>• Showed wind and humidity Granger-cause PM2.5, one way only and robust to the model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4937760" cy="137160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9D1DC"/>
                </a:solidFill>
                <a:latin typeface="Calibri"/>
              </a:defRPr>
            </a:pPr>
            <a:r>
              <a:t>Caveat: Granger shows prediction, not physical cause. Mixing height and stubble burning are not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8A5D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6F5F0"/>
                </a:solidFill>
                <a:latin typeface="Calibri"/>
              </a:defRPr>
            </a:pPr>
            <a:r>
              <a:t>1. SARIMAX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9D1DC"/>
                </a:solidFill>
                <a:latin typeface="Calibri"/>
              </a:defRPr>
            </a:pPr>
            <a:r>
              <a:t>Weekly log PM2.5, period 52, wind and humidity as exogenous inputs; orders by AIC/BIC, Ljung-Box residual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29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6F5F0"/>
                </a:solidFill>
                <a:latin typeface="Calibri"/>
              </a:defRPr>
            </a:pPr>
            <a:r>
              <a:t>2. Baselines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9D1DC"/>
                </a:solidFill>
                <a:latin typeface="Calibri"/>
              </a:defRPr>
            </a:pPr>
            <a:r>
              <a:t>Linear Regression and LSTM against seasonal naive; compare test MAE on 2019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5074920" cy="1234440"/>
          </a:xfrm>
          <a:prstGeom prst="roundRect">
            <a:avLst>
              <a:gd name="adj" fmla="val 6000"/>
            </a:avLst>
          </a:prstGeom>
          <a:solidFill>
            <a:srgbClr val="1B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6F5F0"/>
                </a:solidFill>
                <a:latin typeface="Calibri"/>
              </a:defRPr>
            </a:pPr>
            <a:r>
              <a:t>3. 12-month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2120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9D1DC"/>
                </a:solidFill>
                <a:latin typeface="Calibri"/>
              </a:defRPr>
            </a:pPr>
            <a:r>
              <a:t>Refit on all data; 52 weeks with 95% intervals and a monthly AQI advisory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F9BAD"/>
                </a:solidFill>
                <a:latin typeface="Calibri"/>
              </a:defRPr>
            </a:pPr>
            <a:r>
              <a:t>Plan: train 2015–2018, test 2019, lockdown 2020 as a case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355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F9BAD"/>
                </a:solidFill>
                <a:latin typeface="Calibri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